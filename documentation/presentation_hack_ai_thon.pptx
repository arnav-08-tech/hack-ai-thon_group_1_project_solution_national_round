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5D8FF"/>
                </a:solidFill>
                <a:latin typeface="Aptos"/>
              </a:rPr>
              <a:t>ECOMIND AI</a:t>
            </a:r>
            <a:endParaRPr sz="42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F8FF"/>
                </a:solidFill>
                <a:latin typeface="Aptos"/>
              </a:rPr>
              <a:t>Intelligent Waste Management System</a:t>
            </a:r>
            <a:endParaRPr sz="22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5E6A1"/>
                </a:solidFill>
                <a:latin typeface="Aptos"/>
              </a:rPr>
              <a:t>AI + Computer Vision + Data Intelligence for Smarter Waste Decisions</a:t>
            </a:r>
            <a:endParaRPr sz="1500" b="0">
              <a:solidFill>
                <a:srgbClr val="35E6A1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2743200" y="3657600"/>
            <a:ext cx="685800" cy="685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434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5D8FF"/>
                </a:solidFill>
                <a:latin typeface="Aptos"/>
              </a:rPr>
              <a:t>SCAN</a:t>
            </a:r>
            <a:endParaRPr sz="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3008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F8FF"/>
                </a:solidFill>
                <a:latin typeface="Aptos"/>
              </a:rPr>
              <a:t>→</a:t>
            </a:r>
            <a:endParaRPr sz="20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06240" y="3657600"/>
            <a:ext cx="685800" cy="68580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79" y="4434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5E6A1"/>
                </a:solidFill>
                <a:latin typeface="Aptos"/>
              </a:rPr>
              <a:t>LEARN</a:t>
            </a:r>
            <a:endParaRPr sz="8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6048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F8FF"/>
                </a:solidFill>
                <a:latin typeface="Aptos"/>
              </a:rPr>
              <a:t>→</a:t>
            </a:r>
            <a:endParaRPr sz="20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69280" y="3657600"/>
            <a:ext cx="685800" cy="68580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4434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477FF"/>
                </a:solidFill>
                <a:latin typeface="Aptos"/>
              </a:rPr>
              <a:t>PREDICT</a:t>
            </a:r>
            <a:endParaRPr sz="8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F8FF"/>
                </a:solidFill>
                <a:latin typeface="Aptos"/>
              </a:rPr>
              <a:t>→</a:t>
            </a:r>
            <a:endParaRPr sz="20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132320" y="3657600"/>
            <a:ext cx="685800" cy="685800"/>
          </a:xfrm>
          <a:prstGeom prst="ellipse">
            <a:avLst/>
          </a:prstGeom>
          <a:solidFill>
            <a:srgbClr val="FFC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59" y="4434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C533"/>
                </a:solidFill>
                <a:latin typeface="Aptos"/>
              </a:rPr>
              <a:t>ACT</a:t>
            </a:r>
            <a:endParaRPr sz="8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2127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F8FF"/>
                </a:solidFill>
                <a:latin typeface="Aptos"/>
              </a:rPr>
              <a:t>→</a:t>
            </a:r>
            <a:endParaRPr sz="20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595360" y="3657600"/>
            <a:ext cx="685800" cy="685800"/>
          </a:xfrm>
          <a:prstGeom prst="ellipse">
            <a:avLst/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4FA3"/>
                </a:solidFill>
                <a:latin typeface="Aptos"/>
              </a:rPr>
              <a:t>IMPROVE</a:t>
            </a:r>
            <a:endParaRPr sz="800" b="1">
              <a:solidFill>
                <a:srgbClr val="FF4FA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1A6BE"/>
                </a:solidFill>
                <a:latin typeface="Aptos"/>
              </a:rPr>
              <a:t>TEAM ONE  •  HACKATHON PROJECT</a:t>
            </a:r>
            <a:endParaRPr sz="1200" b="1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The Problem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Waste is generated every day, but decisions are often based on manual records and delayed analysis.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383280" cy="338328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1  IDENTIFICATION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29809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Mixed waste is difficult to record consistently.
Manual classification can be slow and error-prone.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338328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2  VISIBILITY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29809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Without structured data, it is harder to see:
• waste trends
• dominant categories
• recycling performance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83280" cy="338328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3  ACTION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9328" y="2075688"/>
            <a:ext cx="29809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Teams need useful signals—not just stored data—to identify unusual patterns and anticipate the next waste trend.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Our Solution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EcoMind AI turns waste records into a visual, data-driven decision system.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INPUT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9011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Waste category • weight • date • recycling status • description • image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18288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INTELLIGENCE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984248"/>
            <a:ext cx="49011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Computer vision + local ML models + analytics + anomaly detection + prediction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03520" cy="18288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822191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OUTPUT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7" y="4224528"/>
            <a:ext cx="49011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Dashboard • material flow • graphs • recycling tracker • history • AI classification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22191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3"/>
                </a:solidFill>
                <a:latin typeface="Aptos"/>
              </a:rPr>
              <a:t>DECISION SUPPORT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19088" y="4224528"/>
            <a:ext cx="4901183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Understand patterns, identify unusual days, estimate next-day waste, and track recovery.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How the System Works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A complete pipeline from physical waste observation to actionable intelligence.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057400" cy="34747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01  CAPTURE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2167128"/>
            <a:ext cx="16550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Camera detects an object entering the scene.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F8FF"/>
                </a:solidFill>
                <a:latin typeface="Aptos"/>
              </a:rPr>
              <a:t>→</a:t>
            </a:r>
            <a:endParaRPr sz="18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4639" y="1600200"/>
            <a:ext cx="2057400" cy="34747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7647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02  RECORD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5808" y="2167128"/>
            <a:ext cx="16550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Store category, weight, date, recycling status and image.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204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F8FF"/>
                </a:solidFill>
                <a:latin typeface="Aptos"/>
              </a:rPr>
              <a:t>→</a:t>
            </a:r>
            <a:endParaRPr sz="18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166359" y="1600200"/>
            <a:ext cx="2057400" cy="34747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7" y="17647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03  LEARN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67527" y="2167128"/>
            <a:ext cx="16550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Local ML learns from accumulated labeled records.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59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F8FF"/>
                </a:solidFill>
                <a:latin typeface="Aptos"/>
              </a:rPr>
              <a:t>→</a:t>
            </a:r>
            <a:endParaRPr sz="18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79" y="1600200"/>
            <a:ext cx="2057400" cy="34747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17647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3"/>
                </a:solidFill>
                <a:latin typeface="Aptos"/>
              </a:rPr>
              <a:t>04  ANALYZE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2167128"/>
            <a:ext cx="16550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Detect anomalies and study waste streams.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55480" y="2880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0F8FF"/>
                </a:solidFill>
                <a:latin typeface="Aptos"/>
              </a:rPr>
              <a:t>→</a:t>
            </a:r>
            <a:endParaRPr sz="18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29800" y="1600200"/>
            <a:ext cx="2057400" cy="34747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17647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FA3"/>
                </a:solidFill>
                <a:latin typeface="Aptos"/>
              </a:rPr>
              <a:t>05  PREDICT</a:t>
            </a:r>
            <a:endParaRPr sz="1400" b="1">
              <a:solidFill>
                <a:srgbClr val="FF4FA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30968" y="2167128"/>
            <a:ext cx="16550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Estimate the next recorded day's total waste.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1A6BE"/>
                </a:solidFill>
                <a:latin typeface="Aptos"/>
              </a:rPr>
              <a:t>The architecture is designed to work locally, keeping the core ML workflow inside the application.</a:t>
            </a:r>
            <a:endParaRPr sz="1200" b="0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AI &amp; Machine Learning Engine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The submitted application already includes three ML capabilities.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ANOMALY DETECTION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31181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Isolation Forest
Learns historical daily waste patterns and flags an unusually high/low pattern.
Minimum: 5 different days of data.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WASTE PREDICTION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1181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Random Forest Regression
Uses recent daily totals and their mean to estimate the next recorded day's total waste.
Minimum: 8 different days for meaningful prediction.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819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IMAGE CLASSIFICATION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1181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Random Forest Classifier
Uses image features from HSV/grayscale histograms plus mean/std features.
Requires at least 3 labeled images in each of 2 categories.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1A6BE"/>
                </a:solidFill>
                <a:latin typeface="Aptos"/>
              </a:rPr>
              <a:t>Important: the vision component distinguishes object detection from genuine category prediction; classification requires trained labeled data.</a:t>
            </a:r>
            <a:endParaRPr sz="1000" b="0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Live Computer Vision Workflow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5661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CAMERA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Webcam opens with a short warm-up.
Foreground/background analysis looks for a visible object entering the scene.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5661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DETECTION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1728" y="207568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Two consecutive positive frames reduce accidental captures from camera noise.
The frame is automatically saved when an object is detected.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5661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673351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ML CLASSIFICATION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76488" y="207568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If enough labeled images exist, the local Random Forest classifier predicts a waste category and confidence.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8FF"/>
                </a:solidFill>
                <a:latin typeface="Aptos"/>
              </a:rPr>
              <a:t>SPACE = manual capture  •  ESC = cancel  •  no detection for 5 seconds → camera closes</a:t>
            </a:r>
            <a:endParaRPr sz="1200" b="1">
              <a:solidFill>
                <a:srgbClr val="F0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Animated Environmental Material Flow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The dashboard visualizes waste streams around an AI intelligence core.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800" y="3044697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0F8FF"/>
                </a:solidFill>
                <a:latin typeface="Aptos"/>
              </a:rPr>
              <a:t>AI
CORE</a:t>
            </a:r>
            <a:endParaRPr sz="1500" b="1">
              <a:solidFill>
                <a:srgbClr val="F0F8FF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508760" y="2148840"/>
            <a:ext cx="4572000" cy="1097280"/>
          </a:xfrm>
          <a:prstGeom prst="line">
            <a:avLst/>
          </a:prstGeom>
          <a:ln w="25400">
            <a:solidFill>
              <a:srgbClr val="35E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35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5E6A1"/>
                </a:solidFill>
                <a:latin typeface="Aptos"/>
              </a:rPr>
              <a:t>FOOD</a:t>
            </a:r>
            <a:endParaRPr sz="800" b="1">
              <a:solidFill>
                <a:srgbClr val="35E6A1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063240" y="1554480"/>
            <a:ext cx="3017520" cy="1691640"/>
          </a:xfrm>
          <a:prstGeom prst="line">
            <a:avLst/>
          </a:prstGeom>
          <a:ln w="25400">
            <a:solidFill>
              <a:srgbClr val="35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123444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35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947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5D8FF"/>
                </a:solidFill>
                <a:latin typeface="Aptos"/>
              </a:rPr>
              <a:t>PLASTIC</a:t>
            </a:r>
            <a:endParaRPr sz="800" b="1">
              <a:solidFill>
                <a:srgbClr val="35D8FF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6080760" y="1554480"/>
            <a:ext cx="2743200" cy="1691640"/>
          </a:xfrm>
          <a:prstGeom prst="line">
            <a:avLst/>
          </a:prstGeom>
          <a:ln w="25400">
            <a:solidFill>
              <a:srgbClr val="FFC5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503920" y="123444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FFC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947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C533"/>
                </a:solidFill>
                <a:latin typeface="Aptos"/>
              </a:rPr>
              <a:t>PAPER</a:t>
            </a:r>
            <a:endParaRPr sz="800" b="1">
              <a:solidFill>
                <a:srgbClr val="FFC533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80760" y="2651760"/>
            <a:ext cx="4114800" cy="594360"/>
          </a:xfrm>
          <a:prstGeom prst="line">
            <a:avLst/>
          </a:prstGeom>
          <a:ln w="25400">
            <a:solidFill>
              <a:srgbClr val="78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75520" y="233172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78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3044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895FF"/>
                </a:solidFill>
                <a:latin typeface="Aptos"/>
              </a:rPr>
              <a:t>GLASS</a:t>
            </a:r>
            <a:endParaRPr sz="800" b="1">
              <a:solidFill>
                <a:srgbClr val="7895FF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246120"/>
            <a:ext cx="2743200" cy="1737359"/>
          </a:xfrm>
          <a:prstGeom prst="line">
            <a:avLst/>
          </a:prstGeom>
          <a:ln w="25400">
            <a:solidFill>
              <a:srgbClr val="B4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503920" y="466344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B4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5376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477FF"/>
                </a:solidFill>
                <a:latin typeface="Aptos"/>
              </a:rPr>
              <a:t>METAL</a:t>
            </a:r>
            <a:endParaRPr sz="800" b="1">
              <a:solidFill>
                <a:srgbClr val="B477FF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4983479" y="3246120"/>
            <a:ext cx="1097281" cy="2057400"/>
          </a:xfrm>
          <a:prstGeom prst="line">
            <a:avLst/>
          </a:prstGeom>
          <a:ln w="25400">
            <a:solidFill>
              <a:srgbClr val="FF4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663440" y="498348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5696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4FA3"/>
                </a:solidFill>
                <a:latin typeface="Aptos"/>
              </a:rPr>
              <a:t>E-WASTE</a:t>
            </a:r>
            <a:endParaRPr sz="800" b="1">
              <a:solidFill>
                <a:srgbClr val="FF4FA3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25880" y="3246120"/>
            <a:ext cx="4754880" cy="1280159"/>
          </a:xfrm>
          <a:prstGeom prst="line">
            <a:avLst/>
          </a:prstGeom>
          <a:ln w="25400">
            <a:solidFill>
              <a:srgbClr val="61E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05840" y="4206240"/>
            <a:ext cx="640080" cy="640080"/>
          </a:xfrm>
          <a:prstGeom prst="ellipse">
            <a:avLst/>
          </a:prstGeom>
          <a:solidFill>
            <a:srgbClr val="091B2D"/>
          </a:solidFill>
          <a:ln w="25400">
            <a:solidFill>
              <a:srgbClr val="6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22240" y="2226310"/>
            <a:ext cx="1747520" cy="1687195"/>
          </a:xfrm>
          <a:prstGeom prst="ellipse">
            <a:avLst/>
          </a:prstGeom>
          <a:solidFill>
            <a:srgbClr val="0B2034"/>
          </a:solidFill>
          <a:ln w="31750">
            <a:solidFill>
              <a:srgbClr val="35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</a:t>
            </a:r>
            <a:r>
              <a:rPr lang="en-IN" sz="2400" b="1"/>
              <a:t>AI Core</a:t>
            </a:r>
            <a:endParaRPr lang="en-IN" sz="2400" b="1"/>
          </a:p>
        </p:txBody>
      </p:sp>
      <p:sp>
        <p:nvSpPr>
          <p:cNvPr id="29" name="TextBox 28"/>
          <p:cNvSpPr txBox="1"/>
          <p:nvPr/>
        </p:nvSpPr>
        <p:spPr>
          <a:xfrm>
            <a:off x="685800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1E6D2"/>
                </a:solidFill>
                <a:latin typeface="Aptos"/>
              </a:rPr>
              <a:t>OTHER</a:t>
            </a:r>
            <a:endParaRPr sz="800" b="1">
              <a:solidFill>
                <a:srgbClr val="61E6D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1A6BE"/>
                </a:solidFill>
                <a:latin typeface="Aptos"/>
              </a:rPr>
              <a:t>This animated flow is implemented with a QTimer-driven custom PyQt6 painting component.</a:t>
            </a:r>
            <a:endParaRPr sz="900" b="0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Dashboard &amp; Analytics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743200" cy="14173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TOTAL WASTE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Tracks accumulated waste weight.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743200" cy="14173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RECOVERED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1608" y="1938528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Tracks recycled waste.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2743200" cy="14173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53619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RECOVERY RATE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47688" y="1938528"/>
            <a:ext cx="23408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Recovered ÷ total waste.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372600" y="1371600"/>
            <a:ext cx="2194560" cy="14173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53619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3"/>
                </a:solidFill>
                <a:latin typeface="Aptos"/>
              </a:rPr>
              <a:t>TOP STREAM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73768" y="1938528"/>
            <a:ext cx="17922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Highest waste category.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303520" cy="20574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19272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VISUAL ANALYTICS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8" y="3721608"/>
            <a:ext cx="49011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• Waste stream distribution
• Waste trend monitoring
• Category bar graph
• Historical records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394960" cy="205740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19272"/>
            <a:ext cx="4992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OPERATIONS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73368" y="3721608"/>
            <a:ext cx="49926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• Recycling tracker
• Image gallery
• CSV export
• Location &amp; weather information
• Settings and account menu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Technology Stack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Python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Core application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PyQt6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008" y="198424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Desktop UI + animation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8191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OpenCV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0768" y="198424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Camera &amp; object detection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307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3"/>
                </a:solidFill>
                <a:latin typeface="Aptos"/>
              </a:rPr>
              <a:t>scikit-learn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7" y="413308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ML models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7307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FA3"/>
                </a:solidFill>
                <a:latin typeface="Aptos"/>
              </a:rPr>
              <a:t>SQLite</a:t>
            </a:r>
            <a:endParaRPr sz="1400" b="1">
              <a:solidFill>
                <a:srgbClr val="FF4FA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6008" y="413308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Persistent waste records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0" y="3566160"/>
            <a:ext cx="3383280" cy="169164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73075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1E6D2"/>
                </a:solidFill>
                <a:latin typeface="Aptos"/>
              </a:rPr>
              <a:t>NumPy</a:t>
            </a:r>
            <a:endParaRPr sz="1400" b="1">
              <a:solidFill>
                <a:srgbClr val="61E6D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30768" y="4133088"/>
            <a:ext cx="2980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Feature/data processing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1A6BE"/>
                </a:solidFill>
                <a:latin typeface="Aptos"/>
              </a:rPr>
              <a:t>The application source explicitly integrates these components.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What Makes the Prototype Hackathon-Ready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A working software prototype with a visible end-to-end workflow.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WORKING PROTOTYPE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3072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Desktop application
Persistent database
Interactive dashboard
Camera capture
Charts &amp; export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AI LAYER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072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Anomaly detection
Waste prediction
Trainable image classifier
Confidence output
Local learning from records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416052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DEMO STORY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93608" y="1892807"/>
            <a:ext cx="30723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Show waste → capture → record → analyze → visualize → predict.
The judges can see the system change as data is added.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C533"/>
                </a:solidFill>
                <a:latin typeface="Aptos"/>
              </a:rPr>
              <a:t>Demo tip: prepare labeled sample images and at least 8 days of sample data before the presentation so all ML modules can activate.</a:t>
            </a:r>
            <a:endParaRPr sz="1100" b="1">
              <a:solidFill>
                <a:srgbClr val="FFC5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5D8FF"/>
                </a:solidFill>
                <a:latin typeface="Aptos"/>
              </a:rPr>
              <a:t>Future Expansion</a:t>
            </a:r>
            <a:endParaRPr sz="28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1A6BE"/>
                </a:solidFill>
                <a:latin typeface="Aptos"/>
              </a:rPr>
              <a:t>Next-stage enhancements can turn the prototype into a larger smart-waste platform.</a:t>
            </a:r>
            <a:endParaRPr sz="1100" b="0">
              <a:solidFill>
                <a:srgbClr val="91A6B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D8FF"/>
                </a:solidFill>
                <a:latin typeface="Aptos"/>
              </a:rPr>
              <a:t>01</a:t>
            </a:r>
            <a:endParaRPr sz="14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Real-time deep-learning object detection (YOLO/modern vision model)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8191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E6A1"/>
                </a:solidFill>
                <a:latin typeface="Aptos"/>
              </a:rPr>
              <a:t>02</a:t>
            </a:r>
            <a:endParaRPr sz="14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6248" y="198424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IoT smart-bin sensors for weight, fill level and environmental conditions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9923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7FF"/>
                </a:solidFill>
                <a:latin typeface="Aptos"/>
              </a:rPr>
              <a:t>03</a:t>
            </a:r>
            <a:endParaRPr sz="1400" b="1">
              <a:solidFill>
                <a:srgbClr val="B47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968" y="340156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Multi-user / school / campus dashboards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283464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99923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3"/>
                </a:solidFill>
                <a:latin typeface="Aptos"/>
              </a:rPr>
              <a:t>04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6248" y="340156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Route optimization for collection and recycling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25196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165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FA3"/>
                </a:solidFill>
                <a:latin typeface="Aptos"/>
              </a:rPr>
              <a:t>05</a:t>
            </a:r>
            <a:endParaRPr sz="1400" b="1">
              <a:solidFill>
                <a:srgbClr val="FF4FA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6968" y="481888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Cloud synchronization and mobile monitoring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5080" y="4251960"/>
            <a:ext cx="5212080" cy="1051560"/>
          </a:xfrm>
          <a:prstGeom prst="roundRect">
            <a:avLst/>
          </a:prstGeom>
          <a:solidFill>
            <a:srgbClr val="081828"/>
          </a:solidFill>
          <a:ln>
            <a:solidFill>
              <a:srgbClr val="1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4165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1E6D2"/>
                </a:solidFill>
                <a:latin typeface="Aptos"/>
              </a:rPr>
              <a:t>06</a:t>
            </a:r>
            <a:endParaRPr sz="1400" b="1">
              <a:solidFill>
                <a:srgbClr val="61E6D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56248" y="4818888"/>
            <a:ext cx="480974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8FF"/>
                </a:solidFill>
                <a:latin typeface="Aptos"/>
              </a:rPr>
              <a:t>Impact estimation using verified environmental datasets</a:t>
            </a:r>
            <a:endParaRPr sz="1100" b="0">
              <a:solidFill>
                <a:srgbClr val="F0F8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1A6BE"/>
                </a:solidFill>
                <a:latin typeface="Aptos"/>
              </a:rPr>
              <a:t>These are proposed future extensions—not capabilities claimed as already implemented.</a:t>
            </a:r>
            <a:endParaRPr sz="1000" b="0">
              <a:solidFill>
                <a:srgbClr val="91A6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65760"/>
            <a:ext cx="1828800" cy="1828800"/>
          </a:xfrm>
          <a:prstGeom prst="ellipse">
            <a:avLst/>
          </a:prstGeom>
          <a:solidFill>
            <a:srgbClr val="35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577840"/>
            <a:ext cx="1554480" cy="1554480"/>
          </a:xfrm>
          <a:prstGeom prst="ellipse">
            <a:avLst/>
          </a:prstGeom>
          <a:solidFill>
            <a:srgbClr val="35E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303520"/>
            <a:ext cx="1280160" cy="1280160"/>
          </a:xfrm>
          <a:prstGeom prst="ellipse">
            <a:avLst/>
          </a:prstGeom>
          <a:solidFill>
            <a:srgbClr val="B4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5E6A1"/>
                </a:solidFill>
                <a:latin typeface="Aptos"/>
              </a:rPr>
              <a:t>TEAM ONE</a:t>
            </a:r>
            <a:endParaRPr sz="4000" b="1">
              <a:solidFill>
                <a:srgbClr val="35E6A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5D8FF"/>
                </a:solidFill>
                <a:latin typeface="Aptos"/>
              </a:rPr>
              <a:t>ECOMIND AI</a:t>
            </a:r>
            <a:endParaRPr sz="3200" b="1">
              <a:solidFill>
                <a:srgbClr val="35D8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F8FF"/>
                </a:solidFill>
                <a:latin typeface="Aptos"/>
              </a:rPr>
              <a:t>See waste differently.
Turn data into action.</a:t>
            </a:r>
            <a:endParaRPr sz="2200" b="1">
              <a:solidFill>
                <a:srgbClr val="F0F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1A6BE"/>
                </a:solidFill>
                <a:latin typeface="Aptos"/>
              </a:rPr>
              <a:t>AI  •  VISION  •  ANALYTICS  •  PREDICTION</a:t>
            </a:r>
            <a:endParaRPr sz="1300" b="1">
              <a:solidFill>
                <a:srgbClr val="91A6B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8880" y="51663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C533"/>
                </a:solidFill>
                <a:latin typeface="Aptos"/>
              </a:rPr>
              <a:t>HACKATHON SUBMISSION</a:t>
            </a:r>
            <a:endParaRPr sz="1400" b="1">
              <a:solidFill>
                <a:srgbClr val="FFC533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4946</Words>
  <Application>WPS Presentation</Application>
  <PresentationFormat>On-screen Show (4:3)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Anwesha Priya</cp:lastModifiedBy>
  <cp:revision>2</cp:revision>
  <dcterms:created xsi:type="dcterms:W3CDTF">2013-01-27T09:14:00Z</dcterms:created>
  <dcterms:modified xsi:type="dcterms:W3CDTF">2026-09-17T10:54:30Z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93FD4C2DAB0C474B9A9687B23ABB1C17_12</vt:lpwstr>
  </property>
  <property fmtid="{D5CDD505-2E9C-101B-9397-08002B2CF9AE}" pid="3" name="KSOProductBuildVer">
    <vt:lpwstr>1033-12.1.0.28485</vt:lpwstr>
  </property>
</Properties>
</file>